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端到端折衍混合光学系统设计
中期汇报</a:t>
            </a:r>
          </a:p>
        </p:txBody>
      </p:sp>
      <p:sp>
        <p:nvSpPr>
          <p:cNvPr id="3" name="Content 1"/>
          <p:cNvSpPr txBox="1"/>
          <p:nvPr/>
        </p:nvSpPr>
        <p:spPr>
          <a:xfrm>
            <a:off x="685800" y="1200000"/>
            <a:ext cx="10820400" cy="52580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zh-CN" sz="2400"/>
              <a:t>课题：可微分射线-波动联合模型与折衍混合设计</a:t>
            </a:r>
          </a:p>
          <a:p>
            <a:pPr lvl="0">
              <a:buChar char="•"/>
            </a:pPr>
            <a:r>
              <a:rPr lang="zh-CN" sz="2400"/>
              <a:t>阶段：项目构建与参数选择（截至 2026-02-06）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研究背景与意义</a:t>
            </a:r>
          </a:p>
        </p:txBody>
      </p:sp>
      <p:sp>
        <p:nvSpPr>
          <p:cNvPr id="3" name="Content 2"/>
          <p:cNvSpPr txBox="1"/>
          <p:nvPr/>
        </p:nvSpPr>
        <p:spPr>
          <a:xfrm>
            <a:off x="685800" y="1200000"/>
            <a:ext cx="10820400" cy="52580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zh-CN" sz="2400"/>
              <a:t>大视场/大光圈/轻量化对成像系统提出更高要求</a:t>
            </a:r>
          </a:p>
          <a:p>
            <a:pPr lvl="0">
              <a:buChar char="•"/>
            </a:pPr>
            <a:r>
              <a:rPr lang="zh-CN" sz="2400"/>
              <a:t>传统Zemax/Code V设计依赖经验，难以全局最优</a:t>
            </a:r>
          </a:p>
          <a:p>
            <a:pPr lvl="0">
              <a:buChar char="•"/>
            </a:pPr>
            <a:r>
              <a:rPr lang="zh-CN" sz="2400"/>
              <a:t>可微分光学实现端到端优化，提升自动化与性能</a:t>
            </a:r>
          </a:p>
          <a:p>
            <a:pPr lvl="0">
              <a:buChar char="•"/>
            </a:pPr>
            <a:r>
              <a:rPr lang="zh-CN" sz="2400"/>
              <a:t>折衍混合兼顾折射透过率与DOE相位调控能力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研究目标与任务</a:t>
            </a:r>
          </a:p>
        </p:txBody>
      </p:sp>
      <p:sp>
        <p:nvSpPr>
          <p:cNvPr id="3" name="Content 3"/>
          <p:cNvSpPr txBox="1"/>
          <p:nvPr/>
        </p:nvSpPr>
        <p:spPr>
          <a:xfrm>
            <a:off x="685800" y="1200000"/>
            <a:ext cx="10820400" cy="52580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zh-CN" sz="2400"/>
              <a:t>构建高保真可微分折衍混合设计框架</a:t>
            </a:r>
          </a:p>
          <a:p>
            <a:pPr lvl="0">
              <a:buChar char="•"/>
            </a:pPr>
            <a:r>
              <a:rPr lang="zh-CN" sz="2400"/>
              <a:t>完成折射基线、折衍混合与端到端优化</a:t>
            </a:r>
          </a:p>
          <a:p>
            <a:pPr lvl="0">
              <a:buChar char="•"/>
            </a:pPr>
            <a:r>
              <a:rPr lang="zh-CN" sz="2400"/>
              <a:t>评估PSF/MTF/Spot与PSNR等成像指标</a:t>
            </a:r>
          </a:p>
          <a:p>
            <a:pPr lvl="0">
              <a:buChar char="•"/>
            </a:pPr>
            <a:r>
              <a:rPr lang="zh-CN" sz="2400"/>
              <a:t>扩展：折射+超表面混合设计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技术路线（已确认顺序）</a:t>
            </a:r>
          </a:p>
        </p:txBody>
      </p:sp>
      <p:sp>
        <p:nvSpPr>
          <p:cNvPr id="3" name="Content 4"/>
          <p:cNvSpPr txBox="1"/>
          <p:nvPr/>
        </p:nvSpPr>
        <p:spPr>
          <a:xfrm>
            <a:off x="685800" y="1200000"/>
            <a:ext cx="10820400" cy="52580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zh-CN" sz="2400"/>
              <a:t>1) 折射镜片端到端设计（基线）</a:t>
            </a:r>
          </a:p>
          <a:p>
            <a:pPr lvl="0">
              <a:buChar char="•"/>
            </a:pPr>
            <a:r>
              <a:rPr lang="zh-CN" sz="2400"/>
              <a:t>2) 折衍混合设计（DOE联合优化）</a:t>
            </a:r>
          </a:p>
          <a:p>
            <a:pPr lvl="0">
              <a:buChar char="•"/>
            </a:pPr>
            <a:r>
              <a:rPr lang="zh-CN" sz="2400"/>
              <a:t>3) 折衍混合端到端设计（混合镜片+UNet）</a:t>
            </a:r>
          </a:p>
          <a:p>
            <a:pPr lvl="0">
              <a:buChar char="•"/>
            </a:pPr>
            <a:r>
              <a:rPr lang="zh-CN" sz="2400"/>
              <a:t>4) 扩展：折射+超表面混合设计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Notebook 示例图（方法演示）</a:t>
            </a:r>
          </a:p>
        </p:txBody>
      </p:sp>
      <p:pic>
        <p:nvPicPr>
          <p:cNvPr id="3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400000"/>
            <a:ext cx="10820400" cy="4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折射系统结构（预实验）</a:t>
            </a:r>
          </a:p>
        </p:txBody>
      </p:sp>
      <p:pic>
        <p:nvPicPr>
          <p:cNvPr id="3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400000"/>
            <a:ext cx="10820400" cy="4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折射系统 MTF（预实验）</a:t>
            </a:r>
          </a:p>
        </p:txBody>
      </p:sp>
      <p:pic>
        <p:nvPicPr>
          <p:cNvPr id="3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400000"/>
            <a:ext cx="10820400" cy="4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折射系统 Spot（预实验）</a:t>
            </a:r>
          </a:p>
        </p:txBody>
      </p:sp>
      <p:pic>
        <p:nvPicPr>
          <p:cNvPr id="3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400000"/>
            <a:ext cx="10820400" cy="4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DOE 相位分布（预实验）</a:t>
            </a:r>
          </a:p>
        </p:txBody>
      </p:sp>
      <p:pic>
        <p:nvPicPr>
          <p:cNvPr id="3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400000"/>
            <a:ext cx="10820400" cy="4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折衍混合 PSF（预实验）</a:t>
            </a:r>
          </a:p>
        </p:txBody>
      </p:sp>
      <p:pic>
        <p:nvPicPr>
          <p:cNvPr id="3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400000"/>
            <a:ext cx="10820400" cy="4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wrap="square"/>
          <a:lstStyle/>
          <a:p>
            <a:r>
              <a:rPr lang="zh-CN" sz="3600" b="1"/>
              <a:t>DOE 分析与阶段进展</a:t>
            </a:r>
          </a:p>
        </p:txBody>
      </p:sp>
      <p:sp>
        <p:nvSpPr>
          <p:cNvPr id="3" name="Content 11"/>
          <p:cNvSpPr txBox="1"/>
          <p:nvPr/>
        </p:nvSpPr>
        <p:spPr>
          <a:xfrm>
            <a:off x="685800" y="1200000"/>
            <a:ext cx="10820400" cy="5258000"/>
          </a:xfrm>
          <a:prstGeom prst="rect">
            <a:avLst/>
          </a:prstGeom>
        </p:spPr>
        <p:txBody>
          <a:bodyPr wrap="square"/>
          <a:lstStyle/>
          <a:p>
            <a:pPr lvl="0">
              <a:buChar char="•"/>
            </a:pPr>
            <a:r>
              <a:rPr lang="zh-CN" sz="2400"/>
              <a:t>已完成折射与折衍混合流程验证</a:t>
            </a:r>
          </a:p>
          <a:p>
            <a:pPr lvl="0">
              <a:buChar char="•"/>
            </a:pPr>
            <a:r>
              <a:rPr lang="zh-CN" sz="2400"/>
              <a:t>当前在选择目标参数（焦距/F数/厚度）</a:t>
            </a:r>
          </a:p>
          <a:p>
            <a:pPr lvl="0">
              <a:buChar char="•"/>
            </a:pPr>
            <a:r>
              <a:rPr lang="zh-CN" sz="2400"/>
              <a:t>PSNR评测与端到端训练将于下一阶段开展</a:t>
            </a:r>
          </a:p>
        </p:txBody>
      </p:sp>
      <p:pic>
        <p:nvPicPr>
          <p:cNvPr id="4" name="Pictur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400000"/>
            <a:ext cx="10820400" cy="4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11</vt:i4>
      </vt:variant>
    </vt:vector>
  </HeadingPairs>
  <TitlesOfParts>
    <vt:vector size="11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中期报告PPT</dc:title>
  <dc:creator>lilin</dc:creator>
  <cp:lastModifiedBy>lilin</cp:lastModifiedBy>
  <dcterms:created xsi:type="dcterms:W3CDTF">2026-02-06T12:00:00Z</dcterms:created>
  <dcterms:modified xsi:type="dcterms:W3CDTF">2026-02-06T12:00:00Z</dcterms:modified>
</cp:coreProperties>
</file>
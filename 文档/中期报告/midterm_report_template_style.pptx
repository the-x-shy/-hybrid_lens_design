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</Relationships>

</file>

<file path=ppt/slides/slide1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opBand"/>
          <ns0:cNvSpPr/>
          <ns0:nvPr/>
        </ns0:nvSpPr>
        <ns0:spPr>
          <ns1:xfrm>
            <ns1:off x="0" y="0"/>
            <ns1:ext cx="12192000" cy="620000"/>
          </ns1:xfrm>
          <ns1:prstGeom prst="rect">
            <ns1:avLst/>
          </ns1:prstGeom>
          <ns1:solidFill>
            <ns1:srgbClr val="E9EEF3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3" name="Title"/>
          <ns0:cNvSpPr txBox="1"/>
          <ns0:nvPr/>
        </ns0:nvSpPr>
        <ns0:spPr>
          <ns1:xfrm>
            <ns1:off x="520000" y="120000"/>
            <ns1:ext cx="11152000" cy="4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3000" b="1"/>
              <ns1:t>本科生毕业设计（论文）中期汇报</ns1:t>
            </ns1:r>
          </ns1:p>
        </ns0:txBody>
      </ns0:sp>
      <ns0:sp>
        <ns0:nvSpPr>
          <ns0:cNvPr id="4" name="Subtitle"/>
          <ns0:cNvSpPr txBox="1"/>
          <ns0:nvPr/>
        </ns0:nvSpPr>
        <ns0:spPr>
          <ns1:xfrm>
            <ns1:off x="620000" y="780000"/>
            <ns1:ext cx="10952000" cy="42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2200" b="1"/>
              <ns1:t>端到端折衍混合光学系统设计研究</ns1:t>
            </ns1:r>
          </ns1:p>
        </ns0:txBody>
      </ns0:sp>
      <ns0:sp>
        <ns0:nvSpPr>
          <ns0:cNvPr id="5" name="Bullets"/>
          <ns0:cNvSpPr txBox="1"/>
          <ns0:nvPr/>
        </ns0:nvSpPr>
        <ns0:spPr>
          <ns1:xfrm>
            <ns1:off x="620000" y="1220000"/>
            <ns1:ext cx="10952000" cy="42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pPr lvl="0">
              <ns1:buChar char="•"/>
            </ns1:pPr>
            <ns1:r>
              <ns1:rPr lang="zh-CN" sz="2050"/>
              <ns1:t>学院：光电学院    专业：测控技术与仪器</ns1:t>
            </ns1:r>
          </ns1:p>
          <ns1:p>
            <ns1:pPr lvl="0">
              <ns1:buChar char="•"/>
            </ns1:pPr>
            <ns1:r>
              <ns1:rPr lang="zh-CN" sz="2050"/>
              <ns1:t>学生姓名：李俊贤    学号：1120221991</ns1:t>
            </ns1:r>
          </ns1:p>
          <ns1:p>
            <ns1:pPr lvl="0">
              <ns1:buChar char="•"/>
            </ns1:pPr>
            <ns1:r>
              <ns1:rPr lang="zh-CN" sz="2050"/>
              <ns1:t>指导教师：张楠    日期：2026年2月7日</ns1:t>
            </ns1:r>
          </ns1:p>
        </ns0:txBody>
      </ns0:sp>
      <ns0:sp>
        <ns0:nvSpPr>
          <ns0:cNvPr id="6" name="FooterBand"/>
          <ns0:cNvSpPr/>
          <ns0:nvPr/>
        </ns0:nvSpPr>
        <ns0:spPr>
          <ns1:xfrm>
            <ns1:off x="0" y="6450000"/>
            <ns1:ext cx="12192000" cy="408000"/>
          </ns1:xfrm>
          <ns1:prstGeom prst="rect">
            <ns1:avLst/>
          </ns1:prstGeom>
          <ns1:solidFill>
            <ns1:srgbClr val="003B75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7" name="FooterText"/>
          <ns0:cNvSpPr txBox="1"/>
          <ns0:nvPr/>
        </ns0:nvSpPr>
        <ns0:spPr>
          <ns1:xfrm>
            <ns1:off x="430000" y="6500000"/>
            <ns1:ext cx="11332000" cy="26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1300" b="0"/>
              <ns1:t>重构版本（基于 tutorial_0207-184619 与 standalone_test_0207）</ns1:t>
            </ns1: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opBand"/>
          <ns0:cNvSpPr/>
          <ns0:nvPr/>
        </ns0:nvSpPr>
        <ns0:spPr>
          <ns1:xfrm>
            <ns1:off x="0" y="0"/>
            <ns1:ext cx="12192000" cy="620000"/>
          </ns1:xfrm>
          <ns1:prstGeom prst="rect">
            <ns1:avLst/>
          </ns1:prstGeom>
          <ns1:solidFill>
            <ns1:srgbClr val="E9EEF3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3" name="Title"/>
          <ns0:cNvSpPr txBox="1"/>
          <ns0:nvPr/>
        </ns0:nvSpPr>
        <ns0:spPr>
          <ns1:xfrm>
            <ns1:off x="520000" y="120000"/>
            <ns1:ext cx="11152000" cy="4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3000" b="1"/>
              <ns1:t>目录</ns1:t>
            </ns1:r>
          </ns1:p>
        </ns0:txBody>
      </ns0:sp>
      <ns0:sp>
        <ns0:nvSpPr>
          <ns0:cNvPr id="4" name="Bullets"/>
          <ns0:cNvSpPr txBox="1"/>
          <ns0:nvPr/>
        </ns0:nvSpPr>
        <ns0:spPr>
          <ns1:xfrm>
            <ns1:off x="620000" y="1220000"/>
            <ns1:ext cx="10952000" cy="42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pPr lvl="0">
              <ns1:buChar char="•"/>
            </ns1:pPr>
            <ns1:r>
              <ns1:rPr lang="zh-CN" sz="2050"/>
              <ns1:t>1. 研究背景与问题定义</ns1:t>
            </ns1:r>
          </ns1:p>
          <ns1:p>
            <ns1:pPr lvl="0">
              <ns1:buChar char="•"/>
            </ns1:pPr>
            <ns1:r>
              <ns1:rPr lang="zh-CN" sz="2050"/>
              <ns1:t>2. 技术路线与参数设置</ns1:t>
            </ns1:r>
          </ns1:p>
          <ns1:p>
            <ns1:pPr lvl="0">
              <ns1:buChar char="•"/>
            </ns1:pPr>
            <ns1:r>
              <ns1:rPr lang="zh-CN" sz="2050"/>
              <ns1:t>3. 新阶段结果与关键指标</ns1:t>
            </ns1:r>
          </ns1:p>
          <ns1:p>
            <ns1:pPr lvl="0">
              <ns1:buChar char="•"/>
            </ns1:pPr>
            <ns1:r>
              <ns1:rPr lang="zh-CN" sz="2050"/>
              <ns1:t>4. 存在问题与解决方案</ns1:t>
            </ns1:r>
          </ns1:p>
          <ns1:p>
            <ns1:pPr lvl="0">
              <ns1:buChar char="•"/>
            </ns1:pPr>
            <ns1:r>
              <ns1:rPr lang="zh-CN" sz="2050"/>
              <ns1:t>5. 下一步计划与里程碑</ns1:t>
            </ns1:r>
          </ns1:p>
          <ns1:p>
            <ns1:pPr lvl="0">
              <ns1:buChar char="•"/>
            </ns1:pPr>
            <ns1:r>
              <ns1:rPr lang="zh-CN" sz="2050"/>
              <ns1:t>6. 总结与答疑</ns1:t>
            </ns1:r>
          </ns1:p>
        </ns0:txBody>
      </ns0:sp>
      <ns0:sp>
        <ns0:nvSpPr>
          <ns0:cNvPr id="5" name="FooterBand"/>
          <ns0:cNvSpPr/>
          <ns0:nvPr/>
        </ns0:nvSpPr>
        <ns0:spPr>
          <ns1:xfrm>
            <ns1:off x="0" y="6450000"/>
            <ns1:ext cx="12192000" cy="408000"/>
          </ns1:xfrm>
          <ns1:prstGeom prst="rect">
            <ns1:avLst/>
          </ns1:prstGeom>
          <ns1:solidFill>
            <ns1:srgbClr val="003B75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6" name="FooterText"/>
          <ns0:cNvSpPr txBox="1"/>
          <ns0:nvPr/>
        </ns0:nvSpPr>
        <ns0:spPr>
          <ns1:xfrm>
            <ns1:off x="430000" y="6500000"/>
            <ns1:ext cx="11332000" cy="26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1300" b="0"/>
              <ns1:t>中期报告重构版 · LaTeX+PPT 同口径</ns1:t>
            </ns1: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opBand"/>
          <ns0:cNvSpPr/>
          <ns0:nvPr/>
        </ns0:nvSpPr>
        <ns0:spPr>
          <ns1:xfrm>
            <ns1:off x="0" y="0"/>
            <ns1:ext cx="12192000" cy="620000"/>
          </ns1:xfrm>
          <ns1:prstGeom prst="rect">
            <ns1:avLst/>
          </ns1:prstGeom>
          <ns1:solidFill>
            <ns1:srgbClr val="E9EEF3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3" name="Title"/>
          <ns0:cNvSpPr txBox="1"/>
          <ns0:nvPr/>
        </ns0:nvSpPr>
        <ns0:spPr>
          <ns1:xfrm>
            <ns1:off x="520000" y="120000"/>
            <ns1:ext cx="11152000" cy="4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3000" b="1"/>
              <ns1:t>研究背景与问题定义</ns1:t>
            </ns1:r>
          </ns1:p>
        </ns0:txBody>
      </ns0:sp>
      <ns0:sp>
        <ns0:nvSpPr>
          <ns0:cNvPr id="4" name="Bullets"/>
          <ns0:cNvSpPr txBox="1"/>
          <ns0:nvPr/>
        </ns0:nvSpPr>
        <ns0:spPr>
          <ns1:xfrm>
            <ns1:off x="620000" y="1220000"/>
            <ns1:ext cx="10952000" cy="42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pPr lvl="0">
              <ns1:buChar char="•"/>
            </ns1:pPr>
            <ns1:r>
              <ns1:rPr lang="zh-CN" sz="2050"/>
              <ns1:t>应用场景对大视场、小型化与高像质提出并行约束</ns1:t>
            </ns1:r>
          </ns1:p>
          <ns1:p>
            <ns1:pPr lvl="0">
              <ns1:buChar char="•"/>
            </ns1:pPr>
            <ns1:r>
              <ns1:rPr lang="zh-CN" sz="2050"/>
              <ns1:t>传统经验迭代在高维参数空间易陷入局部最优</ns1:t>
            </ns1:r>
          </ns1:p>
          <ns1:p>
            <ns1:pPr lvl="0">
              <ns1:buChar char="•"/>
            </ns1:pPr>
            <ns1:r>
              <ns1:rPr lang="zh-CN" sz="2050"/>
              <ns1:t>核心问题：构建可微射线-波动联合模型并形成可复现实验链路</ns1:t>
            </ns1:r>
          </ns1:p>
        </ns0:txBody>
      </ns0:sp>
      <ns0:sp>
        <ns0:nvSpPr>
          <ns0:cNvPr id="5" name="FooterBand"/>
          <ns0:cNvSpPr/>
          <ns0:nvPr/>
        </ns0:nvSpPr>
        <ns0:spPr>
          <ns1:xfrm>
            <ns1:off x="0" y="6450000"/>
            <ns1:ext cx="12192000" cy="408000"/>
          </ns1:xfrm>
          <ns1:prstGeom prst="rect">
            <ns1:avLst/>
          </ns1:prstGeom>
          <ns1:solidFill>
            <ns1:srgbClr val="003B75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6" name="FooterText"/>
          <ns0:cNvSpPr txBox="1"/>
          <ns0:nvPr/>
        </ns0:nvSpPr>
        <ns0:spPr>
          <ns1:xfrm>
            <ns1:off x="430000" y="6500000"/>
            <ns1:ext cx="11332000" cy="26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1300" b="0"/>
              <ns1:t>中期报告重构版 · 数据截至2026-02-07</ns1:t>
            </ns1: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opBand"/>
          <ns0:cNvSpPr/>
          <ns0:nvPr/>
        </ns0:nvSpPr>
        <ns0:spPr>
          <ns1:xfrm>
            <ns1:off x="0" y="0"/>
            <ns1:ext cx="12192000" cy="620000"/>
          </ns1:xfrm>
          <ns1:prstGeom prst="rect">
            <ns1:avLst/>
          </ns1:prstGeom>
          <ns1:solidFill>
            <ns1:srgbClr val="E9EEF3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3" name="Title"/>
          <ns0:cNvSpPr txBox="1"/>
          <ns0:nvPr/>
        </ns0:nvSpPr>
        <ns0:spPr>
          <ns1:xfrm>
            <ns1:off x="520000" y="120000"/>
            <ns1:ext cx="11152000" cy="4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3000" b="1"/>
              <ns1:t>技术路线与参数设置</ns1:t>
            </ns1:r>
          </ns1:p>
        </ns0:txBody>
      </ns0:sp>
      <ns0:sp>
        <ns0:nvSpPr>
          <ns0:cNvPr id="4" name="Bullets"/>
          <ns0:cNvSpPr txBox="1"/>
          <ns0:nvPr/>
        </ns0:nvSpPr>
        <ns0:spPr>
          <ns1:xfrm>
            <ns1:off x="620000" y="1220000"/>
            <ns1:ext cx="10952000" cy="42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pPr lvl="0">
              <ns1:buChar char="•"/>
            </ns1:pPr>
            <ns1:r>
              <ns1:rPr lang="zh-CN" sz="2050"/>
              <ns1:t>路线顺序：折射设计 -&gt; 折衍混合（DOE）-&gt; 端到端联合 -&gt; 超表面扩展</ns1:t>
            </ns1:r>
          </ns1:p>
          <ns1:p>
            <ns1:pPr lvl="0">
              <ns1:buChar char="•"/>
            </ns1:pPr>
            <ns1:r>
              <ns1:rPr lang="zh-CN" sz="2050"/>
              <ns1:t>主参数：foclen=8.0mm（目标）、fnum=2.0（目标）、thickness=10.0mm（目标）</ns1:t>
            </ns1:r>
          </ns1:p>
          <ns1:p>
            <ns1:pPr lvl="0">
              <ns1:buChar char="•"/>
            </ns1:pPr>
            <ns1:r>
              <ns1:rPr lang="zh-CN" sz="2050"/>
              <ns1:t>训练配置：hybrid_iterations=3000，e2e分组学习率与阶段冻结策略</ns1:t>
            </ns1:r>
          </ns1:p>
        </ns0:txBody>
      </ns0:sp>
      <ns0:sp>
        <ns0:nvSpPr>
          <ns0:cNvPr id="5" name="FooterBand"/>
          <ns0:cNvSpPr/>
          <ns0:nvPr/>
        </ns0:nvSpPr>
        <ns0:spPr>
          <ns1:xfrm>
            <ns1:off x="0" y="6450000"/>
            <ns1:ext cx="12192000" cy="408000"/>
          </ns1:xfrm>
          <ns1:prstGeom prst="rect">
            <ns1:avLst/>
          </ns1:prstGeom>
          <ns1:solidFill>
            <ns1:srgbClr val="003B75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6" name="FooterText"/>
          <ns0:cNvSpPr txBox="1"/>
          <ns0:nvPr/>
        </ns0:nvSpPr>
        <ns0:spPr>
          <ns1:xfrm>
            <ns1:off x="430000" y="6500000"/>
            <ns1:ext cx="11332000" cy="26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1300" b="0"/>
              <ns1:t>中期报告重构版 · 新结果统一口径</ns1:t>
            </ns1:r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opBand"/>
          <ns0:cNvSpPr/>
          <ns0:nvPr/>
        </ns0:nvSpPr>
        <ns0:spPr>
          <ns1:xfrm>
            <ns1:off x="0" y="0"/>
            <ns1:ext cx="12192000" cy="620000"/>
          </ns1:xfrm>
          <ns1:prstGeom prst="rect">
            <ns1:avLst/>
          </ns1:prstGeom>
          <ns1:solidFill>
            <ns1:srgbClr val="E9EEF3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3" name="Title"/>
          <ns0:cNvSpPr txBox="1"/>
          <ns0:nvPr/>
        </ns0:nvSpPr>
        <ns0:spPr>
          <ns1:xfrm>
            <ns1:off x="520000" y="120000"/>
            <ns1:ext cx="11152000" cy="4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3000" b="1"/>
              <ns1:t>折射阶段进展（结构与像质）</ns1:t>
            </ns1:r>
          </ns1:p>
        </ns0:txBody>
      </ns0:sp>
      <ns0:sp>
        <ns0:nvSpPr>
          <ns0:cNvPr id="4" name="Bullets"/>
          <ns0:cNvSpPr txBox="1"/>
          <ns0:nvPr/>
        </ns0:nvSpPr>
        <ns0:spPr>
          <ns1:xfrm>
            <ns1:off x="620000" y="1220000"/>
            <ns1:ext cx="5300000" cy="22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pPr lvl="0">
              <ns1:buChar char="•"/>
            </ns1:pPr>
            <ns1:r>
              <ns1:rPr lang="zh-CN" sz="1850"/>
              <ns1:t>折射系统结构图与像质图已在 tutorial_0207-184619 形成完整输出</ns1:t>
            </ns1:r>
          </ns1:p>
          <ns1:p>
            <ns1:pPr lvl="0">
              <ns1:buChar char="•"/>
            </ns1:pPr>
            <ns1:r>
              <ns1:rPr lang="zh-CN" sz="1850"/>
              <ns1:t>当前作用：作为折衍混合与端到端阶段的统一初始化与对照基线</ns1:t>
            </ns1:r>
          </ns1:p>
        </ns0:txBody>
      </ns0:sp>
      <ns0:pic>
        <ns0:nvPicPr>
          <ns0:cNvPr id="5" name="Image"/>
          <ns0:cNvPicPr/>
          <ns0:nvPr/>
        </ns0:nvPicPr>
        <ns0:blipFill>
          <ns1:blip ns2:embed="rId2"/>
          <ns1:stretch>
            <ns1:fillRect/>
          </ns1:stretch>
        </ns0:blipFill>
        <ns0:spPr>
          <ns1:xfrm>
            <ns1:off x="6200000" y="1220000"/>
            <ns1:ext cx="5400000" cy="4300000"/>
          </ns1:xfrm>
          <ns1:prstGeom prst="rect">
            <ns1:avLst/>
          </ns1:prstGeom>
        </ns0:spPr>
      </ns0:pic>
      <ns0:sp>
        <ns0:nvSpPr>
          <ns0:cNvPr id="6" name="FooterBand"/>
          <ns0:cNvSpPr/>
          <ns0:nvPr/>
        </ns0:nvSpPr>
        <ns0:spPr>
          <ns1:xfrm>
            <ns1:off x="0" y="6450000"/>
            <ns1:ext cx="12192000" cy="408000"/>
          </ns1:xfrm>
          <ns1:prstGeom prst="rect">
            <ns1:avLst/>
          </ns1:prstGeom>
          <ns1:solidFill>
            <ns1:srgbClr val="003B75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7" name="FooterText"/>
          <ns0:cNvSpPr txBox="1"/>
          <ns0:nvPr/>
        </ns0:nvSpPr>
        <ns0:spPr>
          <ns1:xfrm>
            <ns1:off x="430000" y="6500000"/>
            <ns1:ext cx="11332000" cy="26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1300" b="0"/>
              <ns1:t>中期报告重构版 · 图像来源：final_lens.png</ns1:t>
            </ns1:r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opBand"/>
          <ns0:cNvSpPr/>
          <ns0:nvPr/>
        </ns0:nvSpPr>
        <ns0:spPr>
          <ns1:xfrm>
            <ns1:off x="0" y="0"/>
            <ns1:ext cx="12192000" cy="620000"/>
          </ns1:xfrm>
          <ns1:prstGeom prst="rect">
            <ns1:avLst/>
          </ns1:prstGeom>
          <ns1:solidFill>
            <ns1:srgbClr val="E9EEF3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3" name="Title"/>
          <ns0:cNvSpPr txBox="1"/>
          <ns0:nvPr/>
        </ns0:nvSpPr>
        <ns0:spPr>
          <ns1:xfrm>
            <ns1:off x="520000" y="120000"/>
            <ns1:ext cx="11152000" cy="4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3000" b="1"/>
              <ns1:t>折射阶段进展（MTF与独立测试）</ns1:t>
            </ns1:r>
          </ns1:p>
        </ns0:txBody>
      </ns0:sp>
      <ns0:sp>
        <ns0:nvSpPr>
          <ns0:cNvPr id="4" name="Bullets"/>
          <ns0:cNvSpPr txBox="1"/>
          <ns0:nvPr/>
        </ns0:nvSpPr>
        <ns0:spPr>
          <ns1:xfrm>
            <ns1:off x="620000" y="1220000"/>
            <ns1:ext cx="5300000" cy="22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pPr lvl="0">
              <ns1:buChar char="•"/>
            </ns1:pPr>
            <ns1:r>
              <ns1:rPr lang="zh-CN" sz="1850"/>
              <ns1:t>MTF趋势与结构参数可对应，支持锁参前的可行域筛查</ns1:t>
            </ns1:r>
          </ns1:p>
          <ns1:p>
            <ns1:pPr lvl="0">
              <ns1:buChar char="•"/>
            </ns1:pPr>
            <ns1:r>
              <ns1:rPr lang="zh-CN" sz="1850"/>
              <ns1:t>独立测试目录 standalone_test_0207 已输出 geolens_test 系列图用于复核</ns1:t>
            </ns1:r>
          </ns1:p>
        </ns0:txBody>
      </ns0:sp>
      <ns0:pic>
        <ns0:nvPicPr>
          <ns0:cNvPr id="5" name="Image"/>
          <ns0:cNvPicPr/>
          <ns0:nvPr/>
        </ns0:nvPicPr>
        <ns0:blipFill>
          <ns1:blip ns2:embed="rId2"/>
          <ns1:stretch>
            <ns1:fillRect/>
          </ns1:stretch>
        </ns0:blipFill>
        <ns0:spPr>
          <ns1:xfrm>
            <ns1:off x="6200000" y="1220000"/>
            <ns1:ext cx="5400000" cy="4300000"/>
          </ns1:xfrm>
          <ns1:prstGeom prst="rect">
            <ns1:avLst/>
          </ns1:prstGeom>
        </ns0:spPr>
      </ns0:pic>
      <ns0:sp>
        <ns0:nvSpPr>
          <ns0:cNvPr id="6" name="FooterBand"/>
          <ns0:cNvSpPr/>
          <ns0:nvPr/>
        </ns0:nvSpPr>
        <ns0:spPr>
          <ns1:xfrm>
            <ns1:off x="0" y="6450000"/>
            <ns1:ext cx="12192000" cy="408000"/>
          </ns1:xfrm>
          <ns1:prstGeom prst="rect">
            <ns1:avLst/>
          </ns1:prstGeom>
          <ns1:solidFill>
            <ns1:srgbClr val="003B75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7" name="FooterText"/>
          <ns0:cNvSpPr txBox="1"/>
          <ns0:nvPr/>
        </ns0:nvSpPr>
        <ns0:spPr>
          <ns1:xfrm>
            <ns1:off x="430000" y="6500000"/>
            <ns1:ext cx="11332000" cy="26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1300" b="0"/>
              <ns1:t>中期报告重构版 · 图像来源：final_lens_mtf.png</ns1:t>
            </ns1:r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opBand"/>
          <ns0:cNvSpPr/>
          <ns0:nvPr/>
        </ns0:nvSpPr>
        <ns0:spPr>
          <ns1:xfrm>
            <ns1:off x="0" y="0"/>
            <ns1:ext cx="12192000" cy="620000"/>
          </ns1:xfrm>
          <ns1:prstGeom prst="rect">
            <ns1:avLst/>
          </ns1:prstGeom>
          <ns1:solidFill>
            <ns1:srgbClr val="E9EEF3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3" name="Title"/>
          <ns0:cNvSpPr txBox="1"/>
          <ns0:nvPr/>
        </ns0:nvSpPr>
        <ns0:spPr>
          <ns1:xfrm>
            <ns1:off x="520000" y="120000"/>
            <ns1:ext cx="11152000" cy="4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3000" b="1"/>
              <ns1:t>折衍混合阶段进展（DOE）</ns1:t>
            </ns1:r>
          </ns1:p>
        </ns0:txBody>
      </ns0:sp>
      <ns0:sp>
        <ns0:nvSpPr>
          <ns0:cNvPr id="4" name="Bullets"/>
          <ns0:cNvSpPr txBox="1"/>
          <ns0:nvPr/>
        </ns0:nvSpPr>
        <ns0:spPr>
          <ns1:xfrm>
            <ns1:off x="620000" y="1220000"/>
            <ns1:ext cx="5300000" cy="22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pPr lvl="0">
              <ns1:buChar char="•"/>
            </ns1:pPr>
            <ns1:r>
              <ns1:rPr lang="zh-CN" sz="1850"/>
              <ns1:t>DOE相位图已形成可解释分布，联合优化链路稳定运行</ns1:t>
            </ns1:r>
          </ns1:p>
          <ns1:p>
            <ns1:pPr lvl="0">
              <ns1:buChar char="•"/>
            </ns1:pPr>
            <ns1:r>
              <ns1:rPr lang="zh-CN" sz="1850"/>
              <ns1:t>定量结果：Hybrid loss 0.026145 -&gt; 0.014280，改善 45.4%</ns1:t>
            </ns1:r>
          </ns1:p>
        </ns0:txBody>
      </ns0:sp>
      <ns0:pic>
        <ns0:nvPicPr>
          <ns0:cNvPr id="5" name="Image"/>
          <ns0:cNvPicPr/>
          <ns0:nvPr/>
        </ns0:nvPicPr>
        <ns0:blipFill>
          <ns1:blip ns2:embed="rId2"/>
          <ns1:stretch>
            <ns1:fillRect/>
          </ns1:stretch>
        </ns0:blipFill>
        <ns0:spPr>
          <ns1:xfrm>
            <ns1:off x="6200000" y="1220000"/>
            <ns1:ext cx="5400000" cy="4300000"/>
          </ns1:xfrm>
          <ns1:prstGeom prst="rect">
            <ns1:avLst/>
          </ns1:prstGeom>
        </ns0:spPr>
      </ns0:pic>
      <ns0:sp>
        <ns0:nvSpPr>
          <ns0:cNvPr id="6" name="FooterBand"/>
          <ns0:cNvSpPr/>
          <ns0:nvPr/>
        </ns0:nvSpPr>
        <ns0:spPr>
          <ns1:xfrm>
            <ns1:off x="0" y="6450000"/>
            <ns1:ext cx="12192000" cy="408000"/>
          </ns1:xfrm>
          <ns1:prstGeom prst="rect">
            <ns1:avLst/>
          </ns1:prstGeom>
          <ns1:solidFill>
            <ns1:srgbClr val="003B75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7" name="FooterText"/>
          <ns0:cNvSpPr txBox="1"/>
          <ns0:nvPr/>
        </ns0:nvSpPr>
        <ns0:spPr>
          <ns1:xfrm>
            <ns1:off x="430000" y="6500000"/>
            <ns1:ext cx="11332000" cy="26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1300" b="0"/>
              <ns1:t>中期报告重构版 · 图像来源：doe_phase_map.png</ns1:t>
            </ns1:r>
          </ns1:p>
        </ns0:txBody>
      </ns0:sp>
    </ns0:spTree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opBand"/>
          <ns0:cNvSpPr/>
          <ns0:nvPr/>
        </ns0:nvSpPr>
        <ns0:spPr>
          <ns1:xfrm>
            <ns1:off x="0" y="0"/>
            <ns1:ext cx="12192000" cy="620000"/>
          </ns1:xfrm>
          <ns1:prstGeom prst="rect">
            <ns1:avLst/>
          </ns1:prstGeom>
          <ns1:solidFill>
            <ns1:srgbClr val="E9EEF3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3" name="Title"/>
          <ns0:cNvSpPr txBox="1"/>
          <ns0:nvPr/>
        </ns0:nvSpPr>
        <ns0:spPr>
          <ns1:xfrm>
            <ns1:off x="520000" y="120000"/>
            <ns1:ext cx="11152000" cy="4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3000" b="1"/>
              <ns1:t>折衍混合阶段进展（系统分析）</ns1:t>
            </ns1:r>
          </ns1:p>
        </ns0:txBody>
      </ns0:sp>
      <ns0:sp>
        <ns0:nvSpPr>
          <ns0:cNvPr id="4" name="Bullets"/>
          <ns0:cNvSpPr txBox="1"/>
          <ns0:nvPr/>
        </ns0:nvSpPr>
        <ns0:spPr>
          <ns1:xfrm>
            <ns1:off x="620000" y="1220000"/>
            <ns1:ext cx="5300000" cy="22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pPr lvl="0">
              <ns1:buChar char="•"/>
            </ns1:pPr>
            <ns1:r>
              <ns1:rPr lang="zh-CN" sz="1850"/>
              <ns1:t>hybrid_final_analysis_doe 图显示相位与成像分析输出闭环已建立</ns1:t>
            </ns1:r>
          </ns1:p>
          <ns1:p>
            <ns1:pPr lvl="0">
              <ns1:buChar char="•"/>
            </ns1:pPr>
            <ns1:r>
              <ns1:rPr lang="zh-CN" sz="1850"/>
              <ns1:t>当前结论：主线可行且证据完整，仍需锁参后重复试验确认显著性</ns1:t>
            </ns1:r>
          </ns1:p>
        </ns0:txBody>
      </ns0:sp>
      <ns0:pic>
        <ns0:nvPicPr>
          <ns0:cNvPr id="5" name="Image"/>
          <ns0:cNvPicPr/>
          <ns0:nvPr/>
        </ns0:nvPicPr>
        <ns0:blipFill>
          <ns1:blip ns2:embed="rId2"/>
          <ns1:stretch>
            <ns1:fillRect/>
          </ns1:stretch>
        </ns0:blipFill>
        <ns0:spPr>
          <ns1:xfrm>
            <ns1:off x="6200000" y="1220000"/>
            <ns1:ext cx="5400000" cy="4300000"/>
          </ns1:xfrm>
          <ns1:prstGeom prst="rect">
            <ns1:avLst/>
          </ns1:prstGeom>
        </ns0:spPr>
      </ns0:pic>
      <ns0:sp>
        <ns0:nvSpPr>
          <ns0:cNvPr id="6" name="FooterBand"/>
          <ns0:cNvSpPr/>
          <ns0:nvPr/>
        </ns0:nvSpPr>
        <ns0:spPr>
          <ns1:xfrm>
            <ns1:off x="0" y="6450000"/>
            <ns1:ext cx="12192000" cy="408000"/>
          </ns1:xfrm>
          <ns1:prstGeom prst="rect">
            <ns1:avLst/>
          </ns1:prstGeom>
          <ns1:solidFill>
            <ns1:srgbClr val="003B75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7" name="FooterText"/>
          <ns0:cNvSpPr txBox="1"/>
          <ns0:nvPr/>
        </ns0:nvSpPr>
        <ns0:spPr>
          <ns1:xfrm>
            <ns1:off x="430000" y="6500000"/>
            <ns1:ext cx="11332000" cy="26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1300" b="0"/>
              <ns1:t>中期报告重构版 · 图像来源：hybrid_final_analysis_doe.png</ns1:t>
            </ns1:r>
          </ns1:p>
        </ns0:txBody>
      </ns0:sp>
    </ns0:spTree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opBand"/>
          <ns0:cNvSpPr/>
          <ns0:nvPr/>
        </ns0:nvSpPr>
        <ns0:spPr>
          <ns1:xfrm>
            <ns1:off x="0" y="0"/>
            <ns1:ext cx="12192000" cy="620000"/>
          </ns1:xfrm>
          <ns1:prstGeom prst="rect">
            <ns1:avLst/>
          </ns1:prstGeom>
          <ns1:solidFill>
            <ns1:srgbClr val="E9EEF3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3" name="Title"/>
          <ns0:cNvSpPr txBox="1"/>
          <ns0:nvPr/>
        </ns0:nvSpPr>
        <ns0:spPr>
          <ns1:xfrm>
            <ns1:off x="520000" y="120000"/>
            <ns1:ext cx="11152000" cy="4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3000" b="1"/>
              <ns1:t>端到端方案与关键指标</ns1:t>
            </ns1:r>
          </ns1:p>
        </ns0:txBody>
      </ns0:sp>
      <ns0:sp>
        <ns0:nvSpPr>
          <ns0:cNvPr id="4" name="Bullets"/>
          <ns0:cNvSpPr txBox="1"/>
          <ns0:nvPr/>
        </ns0:nvSpPr>
        <ns0:spPr>
          <ns1:xfrm>
            <ns1:off x="620000" y="1220000"/>
            <ns1:ext cx="5300000" cy="22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pPr lvl="0">
              <ns1:buChar char="•"/>
            </ns1:pPr>
            <ns1:r>
              <ns1:rPr lang="zh-CN" sz="1850"/>
              <ns1:t>主指标：PSNR；辅助指标：SSIM、LPIPS；同时保留PSF/MTF/Spot</ns1:t>
            </ns1:r>
          </ns1:p>
          <ns1:p>
            <ns1:pPr lvl="0">
              <ns1:buChar char="•"/>
            </ns1:pPr>
            <ns1:r>
              <ns1:rPr lang="zh-CN" sz="1850"/>
              <ns1:t>阶段性结果：PSNR 从 17.30dB 提升至 19.62dB（当前已记录轮次）</ns1:t>
            </ns1:r>
          </ns1:p>
          <ns1:p>
            <ns1:pPr lvl="0">
              <ns1:buChar char="•"/>
            </ns1:pPr>
            <ns1:r>
              <ns1:rPr lang="zh-CN" sz="1850"/>
              <ns1:t>图示为 e2e_training_curves，用于展示损失与PSNR协同变化</ns1:t>
            </ns1:r>
          </ns1:p>
        </ns0:txBody>
      </ns0:sp>
      <ns0:pic>
        <ns0:nvPicPr>
          <ns0:cNvPr id="5" name="Image"/>
          <ns0:cNvPicPr/>
          <ns0:nvPr/>
        </ns0:nvPicPr>
        <ns0:blipFill>
          <ns1:blip ns2:embed="rId2"/>
          <ns1:stretch>
            <ns1:fillRect/>
          </ns1:stretch>
        </ns0:blipFill>
        <ns0:spPr>
          <ns1:xfrm>
            <ns1:off x="6200000" y="1220000"/>
            <ns1:ext cx="5400000" cy="4300000"/>
          </ns1:xfrm>
          <ns1:prstGeom prst="rect">
            <ns1:avLst/>
          </ns1:prstGeom>
        </ns0:spPr>
      </ns0:pic>
      <ns0:sp>
        <ns0:nvSpPr>
          <ns0:cNvPr id="6" name="FooterBand"/>
          <ns0:cNvSpPr/>
          <ns0:nvPr/>
        </ns0:nvSpPr>
        <ns0:spPr>
          <ns1:xfrm>
            <ns1:off x="0" y="6450000"/>
            <ns1:ext cx="12192000" cy="408000"/>
          </ns1:xfrm>
          <ns1:prstGeom prst="rect">
            <ns1:avLst/>
          </ns1:prstGeom>
          <ns1:solidFill>
            <ns1:srgbClr val="003B75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7" name="FooterText"/>
          <ns0:cNvSpPr txBox="1"/>
          <ns0:nvPr/>
        </ns0:nvSpPr>
        <ns0:spPr>
          <ns1:xfrm>
            <ns1:off x="430000" y="6500000"/>
            <ns1:ext cx="11332000" cy="26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1300" b="0"/>
              <ns1:t>中期报告重构版 · 图像来源：e2e_training_curves.png</ns1:t>
            </ns1:r>
          </ns1:p>
        </ns0:txBody>
      </ns0:sp>
    </ns0:spTree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opBand"/>
          <ns0:cNvSpPr/>
          <ns0:nvPr/>
        </ns0:nvSpPr>
        <ns0:spPr>
          <ns1:xfrm>
            <ns1:off x="0" y="0"/>
            <ns1:ext cx="12192000" cy="620000"/>
          </ns1:xfrm>
          <ns1:prstGeom prst="rect">
            <ns1:avLst/>
          </ns1:prstGeom>
          <ns1:solidFill>
            <ns1:srgbClr val="E9EEF3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3" name="Title"/>
          <ns0:cNvSpPr txBox="1"/>
          <ns0:nvPr/>
        </ns0:nvSpPr>
        <ns0:spPr>
          <ns1:xfrm>
            <ns1:off x="520000" y="120000"/>
            <ns1:ext cx="11152000" cy="4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3000" b="1"/>
              <ns1:t>存在问题与拟解决方案</ns1:t>
            </ns1:r>
          </ns1:p>
        </ns0:txBody>
      </ns0:sp>
      <ns0:sp>
        <ns0:nvSpPr>
          <ns0:cNvPr id="4" name="Bullets"/>
          <ns0:cNvSpPr txBox="1"/>
          <ns0:nvPr/>
        </ns0:nvSpPr>
        <ns0:spPr>
          <ns1:xfrm>
            <ns1:off x="620000" y="1220000"/>
            <ns1:ext cx="10952000" cy="42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pPr lvl="0">
              <ns1:buChar char="•"/>
            </ns1:pPr>
            <ns1:r>
              <ns1:rPr lang="zh-CN" sz="2050"/>
              <ns1:t>问题：参数尚未完全锁定、统计显著性验证不足、超表面扩展对比未闭环</ns1:t>
            </ns1:r>
          </ns1:p>
          <ns1:p>
            <ns1:pPr lvl="0">
              <ns1:buChar char="•"/>
            </ns1:pPr>
            <ns1:r>
              <ns1:rPr lang="zh-CN" sz="2050"/>
              <ns1:t>方案：粗筛-精筛-锁定，主实验矩阵+消融矩阵，多随机种子重复统计</ns1:t>
            </ns1:r>
          </ns1:p>
        </ns0:txBody>
      </ns0:sp>
      <ns0:sp>
        <ns0:nvSpPr>
          <ns0:cNvPr id="5" name="FooterBand"/>
          <ns0:cNvSpPr/>
          <ns0:nvPr/>
        </ns0:nvSpPr>
        <ns0:spPr>
          <ns1:xfrm>
            <ns1:off x="0" y="6450000"/>
            <ns1:ext cx="12192000" cy="408000"/>
          </ns1:xfrm>
          <ns1:prstGeom prst="rect">
            <ns1:avLst/>
          </ns1:prstGeom>
          <ns1:solidFill>
            <ns1:srgbClr val="003B75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6" name="FooterText"/>
          <ns0:cNvSpPr txBox="1"/>
          <ns0:nvPr/>
        </ns0:nvSpPr>
        <ns0:spPr>
          <ns1:xfrm>
            <ns1:off x="430000" y="6500000"/>
            <ns1:ext cx="11332000" cy="26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1300" b="0"/>
              <ns1:t>原则：只报告可追溯结果，不将进行中趋势写成最终结论</ns1:t>
            </ns1:r>
          </ns1:p>
        </ns0:txBody>
      </ns0:sp>
    </ns0:spTree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opBand"/>
          <ns0:cNvSpPr/>
          <ns0:nvPr/>
        </ns0:nvSpPr>
        <ns0:spPr>
          <ns1:xfrm>
            <ns1:off x="0" y="0"/>
            <ns1:ext cx="12192000" cy="620000"/>
          </ns1:xfrm>
          <ns1:prstGeom prst="rect">
            <ns1:avLst/>
          </ns1:prstGeom>
          <ns1:solidFill>
            <ns1:srgbClr val="E9EEF3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3" name="Title"/>
          <ns0:cNvSpPr txBox="1"/>
          <ns0:nvPr/>
        </ns0:nvSpPr>
        <ns0:spPr>
          <ns1:xfrm>
            <ns1:off x="520000" y="120000"/>
            <ns1:ext cx="11152000" cy="4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3000" b="1"/>
              <ns1:t>下一步计划与里程碑</ns1:t>
            </ns1:r>
          </ns1:p>
        </ns0:txBody>
      </ns0:sp>
      <ns0:sp>
        <ns0:nvSpPr>
          <ns0:cNvPr id="4" name="Bullets"/>
          <ns0:cNvSpPr txBox="1"/>
          <ns0:nvPr/>
        </ns0:nvSpPr>
        <ns0:spPr>
          <ns1:xfrm>
            <ns1:off x="620000" y="1220000"/>
            <ns1:ext cx="10952000" cy="42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pPr lvl="0">
              <ns1:buChar char="•"/>
            </ns1:pPr>
            <ns1:r>
              <ns1:rPr lang="zh-CN" sz="2050"/>
              <ns1:t>阶段1：完成参数锁定并重训折射基线</ns1:t>
            </ns1:r>
          </ns1:p>
          <ns1:p>
            <ns1:pPr lvl="0">
              <ns1:buChar char="•"/>
            </ns1:pPr>
            <ns1:r>
              <ns1:rPr lang="zh-CN" sz="2050"/>
              <ns1:t>阶段2：完成DOE主实验与统计对比</ns1:t>
            </ns1:r>
          </ns1:p>
          <ns1:p>
            <ns1:pPr lvl="0">
              <ns1:buChar char="•"/>
            </ns1:pPr>
            <ns1:r>
              <ns1:rPr lang="zh-CN" sz="2050"/>
              <ns1:t>阶段3：完成端到端全指标评估与可视化样例归档</ns1:t>
            </ns1:r>
          </ns1:p>
          <ns1:p>
            <ns1:pPr lvl="0">
              <ns1:buChar char="•"/>
            </ns1:pPr>
            <ns1:r>
              <ns1:rPr lang="zh-CN" sz="2050"/>
              <ns1:t>阶段4：完成超表面扩展公平对比与论文答辩材料定稿</ns1:t>
            </ns1:r>
          </ns1:p>
        </ns0:txBody>
      </ns0:sp>
      <ns0:sp>
        <ns0:nvSpPr>
          <ns0:cNvPr id="5" name="FooterBand"/>
          <ns0:cNvSpPr/>
          <ns0:nvPr/>
        </ns0:nvSpPr>
        <ns0:spPr>
          <ns1:xfrm>
            <ns1:off x="0" y="6450000"/>
            <ns1:ext cx="12192000" cy="408000"/>
          </ns1:xfrm>
          <ns1:prstGeom prst="rect">
            <ns1:avLst/>
          </ns1:prstGeom>
          <ns1:solidFill>
            <ns1:srgbClr val="003B75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6" name="FooterText"/>
          <ns0:cNvSpPr txBox="1"/>
          <ns0:nvPr/>
        </ns0:nvSpPr>
        <ns0:spPr>
          <ns1:xfrm>
            <ns1:off x="430000" y="6500000"/>
            <ns1:ext cx="11332000" cy="26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1300" b="0"/>
              <ns1:t>中期报告重构版 · 目标保持可复现与可审计</ns1:t>
            </ns1:r>
          </ns1:p>
        </ns0:txBody>
      </ns0:sp>
    </ns0:spTree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opBand"/>
          <ns0:cNvSpPr/>
          <ns0:nvPr/>
        </ns0:nvSpPr>
        <ns0:spPr>
          <ns1:xfrm>
            <ns1:off x="0" y="0"/>
            <ns1:ext cx="12192000" cy="620000"/>
          </ns1:xfrm>
          <ns1:prstGeom prst="rect">
            <ns1:avLst/>
          </ns1:prstGeom>
          <ns1:solidFill>
            <ns1:srgbClr val="E9EEF3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3" name="Title"/>
          <ns0:cNvSpPr txBox="1"/>
          <ns0:nvPr/>
        </ns0:nvSpPr>
        <ns0:spPr>
          <ns1:xfrm>
            <ns1:off x="520000" y="120000"/>
            <ns1:ext cx="11152000" cy="4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3000" b="1"/>
              <ns1:t>总结与答疑</ns1:t>
            </ns1:r>
          </ns1:p>
        </ns0:txBody>
      </ns0:sp>
      <ns0:sp>
        <ns0:nvSpPr>
          <ns0:cNvPr id="4" name="Bullets"/>
          <ns0:cNvSpPr txBox="1"/>
          <ns0:nvPr/>
        </ns0:nvSpPr>
        <ns0:spPr>
          <ns1:xfrm>
            <ns1:off x="620000" y="1220000"/>
            <ns1:ext cx="5300000" cy="220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pPr lvl="0">
              <ns1:buChar char="•"/>
            </ns1:pPr>
            <ns1:r>
              <ns1:rPr lang="zh-CN" sz="1850"/>
              <ns1:t>中期结论：四阶段主线已打通，关键证据链可追溯</ns1:t>
            </ns1:r>
          </ns1:p>
          <ns1:p>
            <ns1:pPr lvl="0">
              <ns1:buChar char="•"/>
            </ns1:pPr>
            <ns1:r>
              <ns1:rPr lang="zh-CN" sz="1850"/>
              <ns1:t>文档状态：LaTeX正文中文字符 &gt; 11000，PPT共12页并与正文同口径</ns1:t>
            </ns1:r>
          </ns1:p>
          <ns1:p>
            <ns1:pPr lvl="0">
              <ns1:buChar char="•"/>
            </ns1:pPr>
            <ns1:r>
              <ns1:rPr lang="zh-CN" sz="1850"/>
              <ns1:t>独立测试结果已纳入证据体系（standalone_test_0207）</ns1:t>
            </ns1:r>
          </ns1:p>
        </ns0:txBody>
      </ns0:sp>
      <ns0:pic>
        <ns0:nvPicPr>
          <ns0:cNvPr id="5" name="Image"/>
          <ns0:cNvPicPr/>
          <ns0:nvPr/>
        </ns0:nvPicPr>
        <ns0:blipFill>
          <ns1:blip ns2:embed="rId2"/>
          <ns1:stretch>
            <ns1:fillRect/>
          </ns1:stretch>
        </ns0:blipFill>
        <ns0:spPr>
          <ns1:xfrm>
            <ns1:off x="6200000" y="1220000"/>
            <ns1:ext cx="5400000" cy="4300000"/>
          </ns1:xfrm>
          <ns1:prstGeom prst="rect">
            <ns1:avLst/>
          </ns1:prstGeom>
        </ns0:spPr>
      </ns0:pic>
      <ns0:sp>
        <ns0:nvSpPr>
          <ns0:cNvPr id="6" name="FooterBand"/>
          <ns0:cNvSpPr/>
          <ns0:nvPr/>
        </ns0:nvSpPr>
        <ns0:spPr>
          <ns1:xfrm>
            <ns1:off x="0" y="6450000"/>
            <ns1:ext cx="12192000" cy="408000"/>
          </ns1:xfrm>
          <ns1:prstGeom prst="rect">
            <ns1:avLst/>
          </ns1:prstGeom>
          <ns1:solidFill>
            <ns1:srgbClr val="003B75"/>
          </ns1:solidFill>
          <ns1:ln>
            <ns1:noFill/>
          </ns1:ln>
        </ns0:spPr>
        <ns0:txBody>
          <ns1:bodyPr/>
          <ns1:lstStyle/>
          <ns1:p/>
        </ns0:txBody>
      </ns0:sp>
      <ns0:sp>
        <ns0:nvSpPr>
          <ns0:cNvPr id="7" name="FooterText"/>
          <ns0:cNvSpPr txBox="1"/>
          <ns0:nvPr/>
        </ns0:nvSpPr>
        <ns0:spPr>
          <ns1:xfrm>
            <ns1:off x="430000" y="6500000"/>
            <ns1:ext cx="11332000" cy="260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txBody>
          <ns1:bodyPr wrap="square"/>
          <ns1:lstStyle/>
          <ns1:p>
            <ns1:r>
              <ns1:rPr lang="zh-CN" sz="1300" b="0"/>
              <ns1:t>谢谢审阅，欢迎提出问题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TemplateTheme">
  <a:themeElements>
    <a:clrScheme name="TemplateColors">
      <a:dk1>
        <a:srgbClr val="000000"/>
      </a:dk1>
      <a:lt1>
        <a:srgbClr val="FFFFFF"/>
      </a:lt1>
      <a:dk2>
        <a:srgbClr val="1F3A5F"/>
      </a:dk2>
      <a:lt2>
        <a:srgbClr val="F4F4F4"/>
      </a:lt2>
      <a:accent1>
        <a:srgbClr val="003B75"/>
      </a:accent1>
      <a:accent2>
        <a:srgbClr val="5A7DA0"/>
      </a:accent2>
      <a:accent3>
        <a:srgbClr val="7A8A99"/>
      </a:accent3>
      <a:accent4>
        <a:srgbClr val="A3B3C2"/>
      </a:accent4>
      <a:accent5>
        <a:srgbClr val="C2CCD6"/>
      </a:accent5>
      <a:accent6>
        <a:srgbClr val="D6DEE6"/>
      </a:accent6>
      <a:hlink>
        <a:srgbClr val="0000FF"/>
      </a:hlink>
      <a:folHlink>
        <a:srgbClr val="800080"/>
      </a:folHlink>
    </a:clrScheme>
    <a:fontScheme name="TemplateFonts">
      <a:majorFont>
        <a:latin typeface="Times New Roman"/>
      </a:majorFont>
      <a:minorFont>
        <a:latin typeface="Times New Roman"/>
      </a:minorFont>
    </a:fontScheme>
    <a:fmtScheme name="TemplateFm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中期报告模板风格PPT</dc:title>
  <dc:creator>Codex</dc:creator>
  <cp:lastModifiedBy>Codex</cp:lastModifiedBy>
  <dcterms:created xsi:type="dcterms:W3CDTF">2026-02-07T12:00:00Z</dcterms:created>
  <dcterms:modified xsi:type="dcterms:W3CDTF">2026-02-07T12:00:00Z</dcterms:modified>
</cp:coreProperties>
</file>